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8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DEABD-51CE-9D85-8F50-9191E3FF14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442237B-3390-ABAD-2760-2A641472D4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0CE26E-C587-E21D-935E-80D1A545CB18}"/>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5" name="Footer Placeholder 4">
            <a:extLst>
              <a:ext uri="{FF2B5EF4-FFF2-40B4-BE49-F238E27FC236}">
                <a16:creationId xmlns:a16="http://schemas.microsoft.com/office/drawing/2014/main" id="{724634D9-23A9-05B7-5E91-18A1D5DA15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62641F-13FD-47D5-ECA4-9BC095590455}"/>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2645012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8390F-981D-66E8-7010-5ED7DF7FD1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208E32-520C-CF50-074F-C7E2C4C2DA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19CAEA-24F6-5163-DC4A-DCBA4741DAF1}"/>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5" name="Footer Placeholder 4">
            <a:extLst>
              <a:ext uri="{FF2B5EF4-FFF2-40B4-BE49-F238E27FC236}">
                <a16:creationId xmlns:a16="http://schemas.microsoft.com/office/drawing/2014/main" id="{C6EF9640-1A2F-0C06-E034-D12817F792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267F1A-ABE2-F384-2D2C-E973341D1389}"/>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265807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6090C-63FC-B349-41FB-8125A3A3BE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5FE4259-77CB-4040-2AFB-687FC27B1B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B30C1E-D1E3-3FBE-7633-4B0A341A7731}"/>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5" name="Footer Placeholder 4">
            <a:extLst>
              <a:ext uri="{FF2B5EF4-FFF2-40B4-BE49-F238E27FC236}">
                <a16:creationId xmlns:a16="http://schemas.microsoft.com/office/drawing/2014/main" id="{62DB1523-CA6B-5A24-3C9B-397F061BFF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6A00B2-7FEF-B20C-9F4D-AA48DB855A68}"/>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4236493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9423A-B35B-AC95-7BE1-1328BEB966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06A810-2690-E439-32BC-0CCCFFCC91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F2EAB6A-FCB6-FF56-B83E-1FF5E1E577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9527DA-8AC9-D7C3-4769-297CE6028305}"/>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6" name="Footer Placeholder 5">
            <a:extLst>
              <a:ext uri="{FF2B5EF4-FFF2-40B4-BE49-F238E27FC236}">
                <a16:creationId xmlns:a16="http://schemas.microsoft.com/office/drawing/2014/main" id="{AA5ED4D9-8DD7-F76D-A233-C92AFFC8A4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A916CB-B52D-1712-60D4-134D8612B690}"/>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2660806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F3F90-4476-BF5E-E269-4A815575E98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59C4BD-BAE3-C253-6A9B-97FFD29B02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50A917-8266-4B85-2809-3AED402D0A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B67FF3-871B-B519-A708-9938508041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B2068C-F7A4-C380-264E-CBE3D661BC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DDEAE1-3B87-EF97-BC36-B6AC582F2A4C}"/>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8" name="Footer Placeholder 7">
            <a:extLst>
              <a:ext uri="{FF2B5EF4-FFF2-40B4-BE49-F238E27FC236}">
                <a16:creationId xmlns:a16="http://schemas.microsoft.com/office/drawing/2014/main" id="{FD272539-49DB-A273-084C-87DF62DAFD1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925B4B5-4858-E496-CE9F-95B523ABB86F}"/>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362686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44016-1A52-B396-0AED-A97B078036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475C1D0-1B19-CEE6-B392-BCA0BFF312CB}"/>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4" name="Footer Placeholder 3">
            <a:extLst>
              <a:ext uri="{FF2B5EF4-FFF2-40B4-BE49-F238E27FC236}">
                <a16:creationId xmlns:a16="http://schemas.microsoft.com/office/drawing/2014/main" id="{FB220BD7-C109-8288-EFEB-2EED24D8985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4DA1388-556F-6257-B9CD-5DBC91AC0BC2}"/>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2459866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89107C-54A3-6A21-EF2D-1A1F34C1B97F}"/>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3" name="Footer Placeholder 2">
            <a:extLst>
              <a:ext uri="{FF2B5EF4-FFF2-40B4-BE49-F238E27FC236}">
                <a16:creationId xmlns:a16="http://schemas.microsoft.com/office/drawing/2014/main" id="{AE2A0005-59EC-EC88-DAAF-3548BC47D0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E3D498C-92E2-10D9-3A58-E53CE7DE3E81}"/>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401051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844A-0493-EFD4-4A86-1F91EC7598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923ECC6-2C71-6CDE-A5CD-E9025E5869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F3FB4D-6DBA-FE4E-DD14-59E5F9E1D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1C9887-2590-D606-CD26-1178A78892EE}"/>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6" name="Footer Placeholder 5">
            <a:extLst>
              <a:ext uri="{FF2B5EF4-FFF2-40B4-BE49-F238E27FC236}">
                <a16:creationId xmlns:a16="http://schemas.microsoft.com/office/drawing/2014/main" id="{01A7CD68-5D27-F154-CAD1-B4EDCC36D0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441427-90BA-8DAC-6318-A85A035D523B}"/>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2018923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4A85-A8B5-1315-32A3-83D38B00F1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F4E268-8ECF-750C-A012-880016A755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6BCE4C1-0CFF-E6A9-ED0E-2D197C045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B16D55-6304-2201-7846-78886E0B2952}"/>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6" name="Footer Placeholder 5">
            <a:extLst>
              <a:ext uri="{FF2B5EF4-FFF2-40B4-BE49-F238E27FC236}">
                <a16:creationId xmlns:a16="http://schemas.microsoft.com/office/drawing/2014/main" id="{41D5503D-8580-60B1-0309-DED15E21D3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B04A6E-E50B-F7A2-17D4-9298D5F96171}"/>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122024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7B405-2472-7A81-58AD-2684893EFC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31CB69-D0D8-6E83-B0B5-62AA35B9EB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419EFB-F201-2DB1-DA86-EC5810F9F7F4}"/>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5" name="Footer Placeholder 4">
            <a:extLst>
              <a:ext uri="{FF2B5EF4-FFF2-40B4-BE49-F238E27FC236}">
                <a16:creationId xmlns:a16="http://schemas.microsoft.com/office/drawing/2014/main" id="{97348929-F4F0-BDC5-96DA-E5F562576E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D9F5A3-C108-A948-D01B-D26F21D4005A}"/>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1852840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E2A12F-6459-4888-B628-C94CEE3E69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0F2857-DA78-8E50-6410-36515A1488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9FE629-6741-6384-7EEF-690D3AB3A9A8}"/>
              </a:ext>
            </a:extLst>
          </p:cNvPr>
          <p:cNvSpPr>
            <a:spLocks noGrp="1"/>
          </p:cNvSpPr>
          <p:nvPr>
            <p:ph type="dt" sz="half" idx="10"/>
          </p:nvPr>
        </p:nvSpPr>
        <p:spPr/>
        <p:txBody>
          <a:bodyPr/>
          <a:lstStyle/>
          <a:p>
            <a:fld id="{33F6AFA1-D4EA-4930-A276-ECDE63BC4D1D}" type="datetimeFigureOut">
              <a:rPr lang="en-IN" smtClean="0"/>
              <a:t>06-05-2025</a:t>
            </a:fld>
            <a:endParaRPr lang="en-IN"/>
          </a:p>
        </p:txBody>
      </p:sp>
      <p:sp>
        <p:nvSpPr>
          <p:cNvPr id="5" name="Footer Placeholder 4">
            <a:extLst>
              <a:ext uri="{FF2B5EF4-FFF2-40B4-BE49-F238E27FC236}">
                <a16:creationId xmlns:a16="http://schemas.microsoft.com/office/drawing/2014/main" id="{99B61B70-2FCF-626E-D9A7-FC25E468F2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FB2211-9EAD-B864-1E3E-4127504472D6}"/>
              </a:ext>
            </a:extLst>
          </p:cNvPr>
          <p:cNvSpPr>
            <a:spLocks noGrp="1"/>
          </p:cNvSpPr>
          <p:nvPr>
            <p:ph type="sldNum" sz="quarter" idx="12"/>
          </p:nvPr>
        </p:nvSpPr>
        <p:spPr/>
        <p:txBody>
          <a:bodyPr/>
          <a:lstStyle/>
          <a:p>
            <a:fld id="{DDF379D4-7695-4300-8744-C27FA1EDA9D3}" type="slidenum">
              <a:rPr lang="en-IN" smtClean="0"/>
              <a:t>‹#›</a:t>
            </a:fld>
            <a:endParaRPr lang="en-IN"/>
          </a:p>
        </p:txBody>
      </p:sp>
    </p:spTree>
    <p:extLst>
      <p:ext uri="{BB962C8B-B14F-4D97-AF65-F5344CB8AC3E}">
        <p14:creationId xmlns:p14="http://schemas.microsoft.com/office/powerpoint/2010/main" val="195647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A350DB-8AB9-A2D8-91D6-0FAFA9E54E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4A4FE5-9C8C-FFA2-BF88-6014CE1504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D49881-064F-54E2-5F0B-9FA5CBFC1C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F6AFA1-D4EA-4930-A276-ECDE63BC4D1D}" type="datetimeFigureOut">
              <a:rPr lang="en-IN" smtClean="0"/>
              <a:t>06-05-2025</a:t>
            </a:fld>
            <a:endParaRPr lang="en-IN"/>
          </a:p>
        </p:txBody>
      </p:sp>
      <p:sp>
        <p:nvSpPr>
          <p:cNvPr id="5" name="Footer Placeholder 4">
            <a:extLst>
              <a:ext uri="{FF2B5EF4-FFF2-40B4-BE49-F238E27FC236}">
                <a16:creationId xmlns:a16="http://schemas.microsoft.com/office/drawing/2014/main" id="{371C723A-E3B4-DB17-D2E4-492D5C8942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820971-10F8-891A-5C2D-275C099B1A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F379D4-7695-4300-8744-C27FA1EDA9D3}" type="slidenum">
              <a:rPr lang="en-IN" smtClean="0"/>
              <a:t>‹#›</a:t>
            </a:fld>
            <a:endParaRPr lang="en-IN"/>
          </a:p>
        </p:txBody>
      </p:sp>
    </p:spTree>
    <p:extLst>
      <p:ext uri="{BB962C8B-B14F-4D97-AF65-F5344CB8AC3E}">
        <p14:creationId xmlns:p14="http://schemas.microsoft.com/office/powerpoint/2010/main" val="486354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81E28-87A6-81FE-114C-C07C85076E36}"/>
              </a:ext>
            </a:extLst>
          </p:cNvPr>
          <p:cNvSpPr>
            <a:spLocks noGrp="1"/>
          </p:cNvSpPr>
          <p:nvPr>
            <p:ph type="ctrTitle"/>
          </p:nvPr>
        </p:nvSpPr>
        <p:spPr>
          <a:xfrm>
            <a:off x="1524000" y="3695905"/>
            <a:ext cx="9144000" cy="197650"/>
          </a:xfrm>
        </p:spPr>
        <p:txBody>
          <a:bodyPr>
            <a:noAutofit/>
          </a:bodyPr>
          <a:lstStyle/>
          <a:p>
            <a:pPr>
              <a:lnSpc>
                <a:spcPct val="150000"/>
              </a:lnSpc>
            </a:pP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Department of Electrical and Electronics Engineering</a:t>
            </a:r>
            <a:br>
              <a:rPr lang="en-IN" sz="24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Academic year 2024-2025(Even Semester)</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II year/III Semester </a:t>
            </a:r>
            <a:br>
              <a:rPr lang="en-IN" sz="2000" dirty="0">
                <a:latin typeface="Times New Roman" panose="02020603050405020304" pitchFamily="18" charset="0"/>
                <a:cs typeface="Times New Roman" panose="02020603050405020304" pitchFamily="18" charset="0"/>
              </a:rPr>
            </a:br>
            <a:r>
              <a:rPr lang="en-US" sz="2000" b="1" dirty="0">
                <a:effectLst/>
                <a:latin typeface="Times New Roman" panose="02020603050405020304" pitchFamily="18" charset="0"/>
                <a:ea typeface="Times New Roman" panose="02020603050405020304" pitchFamily="18" charset="0"/>
              </a:rPr>
              <a:t>EEB1233 - DESIGN THINKING LABORATORY</a:t>
            </a:r>
            <a:br>
              <a:rPr lang="en-US" sz="2000" b="1">
                <a:effectLst/>
                <a:latin typeface="Times New Roman" panose="02020603050405020304" pitchFamily="18" charset="0"/>
                <a:ea typeface="Times New Roman" panose="02020603050405020304" pitchFamily="18" charset="0"/>
              </a:rPr>
            </a:br>
            <a:r>
              <a:rPr lang="en-US" sz="2000" b="1">
                <a:effectLst/>
                <a:latin typeface="Times New Roman" panose="02020603050405020304" pitchFamily="18" charset="0"/>
                <a:ea typeface="Times New Roman" panose="02020603050405020304" pitchFamily="18" charset="0"/>
              </a:rPr>
              <a:t>Project </a:t>
            </a:r>
            <a:r>
              <a:rPr lang="en-US" sz="2000" b="1">
                <a:latin typeface="Times New Roman" panose="02020603050405020304" pitchFamily="18" charset="0"/>
                <a:ea typeface="Times New Roman" panose="02020603050405020304" pitchFamily="18" charset="0"/>
              </a:rPr>
              <a:t>Review</a:t>
            </a:r>
            <a:br>
              <a:rPr lang="en-IN" sz="2000" dirty="0">
                <a:effectLst/>
                <a:latin typeface="Times New Roman" panose="02020603050405020304" pitchFamily="18" charset="0"/>
                <a:ea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A70BB09E-83C8-F402-C7A5-28684AA836B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6175F428-574E-0CBA-5A10-06B14DA87D6E}"/>
              </a:ext>
            </a:extLst>
          </p:cNvPr>
          <p:cNvGraphicFramePr>
            <a:graphicFrameLocks/>
          </p:cNvGraphicFramePr>
          <p:nvPr>
            <p:extLst>
              <p:ext uri="{D42A27DB-BD31-4B8C-83A1-F6EECF244321}">
                <p14:modId xmlns:p14="http://schemas.microsoft.com/office/powerpoint/2010/main" val="1295601065"/>
              </p:ext>
            </p:extLst>
          </p:nvPr>
        </p:nvGraphicFramePr>
        <p:xfrm>
          <a:off x="0" y="81816"/>
          <a:ext cx="2792362" cy="1003896"/>
        </p:xfrm>
        <a:graphic>
          <a:graphicData uri="http://schemas.openxmlformats.org/presentationml/2006/ole">
            <mc:AlternateContent xmlns:mc="http://schemas.openxmlformats.org/markup-compatibility/2006">
              <mc:Choice xmlns:v="urn:schemas-microsoft-com:vml" Requires="v">
                <p:oleObj spid="_x0000_s1030" name="Picture" r:id="rId3" imgW="0" imgH="0" progId="StaticMetafile">
                  <p:embed/>
                </p:oleObj>
              </mc:Choice>
              <mc:Fallback>
                <p:oleObj name="Picture" r:id="rId3" imgW="0" imgH="0" progId="StaticMetafile">
                  <p:embed/>
                  <p:pic>
                    <p:nvPicPr>
                      <p:cNvPr id="5" name="Object 4">
                        <a:extLst>
                          <a:ext uri="{FF2B5EF4-FFF2-40B4-BE49-F238E27FC236}">
                            <a16:creationId xmlns:a16="http://schemas.microsoft.com/office/drawing/2014/main" id="{6175F428-574E-0CBA-5A10-06B14DA87D6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1816"/>
                        <a:ext cx="2792362" cy="1003896"/>
                      </a:xfrm>
                      <a:prstGeom prst="rect">
                        <a:avLst/>
                      </a:prstGeom>
                      <a:solidFill>
                        <a:srgbClr val="FFFFFF"/>
                      </a:solidFill>
                      <a:ln>
                        <a:noFill/>
                      </a:ln>
                    </p:spPr>
                  </p:pic>
                </p:oleObj>
              </mc:Fallback>
            </mc:AlternateContent>
          </a:graphicData>
        </a:graphic>
      </p:graphicFrame>
      <p:pic>
        <p:nvPicPr>
          <p:cNvPr id="6" name="Image 3">
            <a:extLst>
              <a:ext uri="{FF2B5EF4-FFF2-40B4-BE49-F238E27FC236}">
                <a16:creationId xmlns:a16="http://schemas.microsoft.com/office/drawing/2014/main" id="{A712281E-C06D-D10E-DB01-31CCEF3317C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0609006" y="97317"/>
            <a:ext cx="603250" cy="507365"/>
          </a:xfrm>
          <a:prstGeom prst="rect">
            <a:avLst/>
          </a:prstGeom>
        </p:spPr>
      </p:pic>
      <p:sp>
        <p:nvSpPr>
          <p:cNvPr id="8" name="Subtitle 7">
            <a:extLst>
              <a:ext uri="{FF2B5EF4-FFF2-40B4-BE49-F238E27FC236}">
                <a16:creationId xmlns:a16="http://schemas.microsoft.com/office/drawing/2014/main" id="{E96B4060-66EC-A9A5-AFA6-029AD4EE1BEF}"/>
              </a:ext>
            </a:extLst>
          </p:cNvPr>
          <p:cNvSpPr>
            <a:spLocks noGrp="1"/>
          </p:cNvSpPr>
          <p:nvPr>
            <p:ph type="subTitle" idx="1"/>
          </p:nvPr>
        </p:nvSpPr>
        <p:spPr>
          <a:xfrm>
            <a:off x="1651819" y="3175320"/>
            <a:ext cx="9144000" cy="507360"/>
          </a:xfrm>
        </p:spPr>
        <p:txBody>
          <a:bodyPr>
            <a:normAutofit/>
          </a:bodyPr>
          <a:lstStyle/>
          <a:p>
            <a:r>
              <a:rPr lang="en-US" sz="2400" b="1" dirty="0">
                <a:latin typeface="Times New Roman" pitchFamily="18" charset="0"/>
                <a:cs typeface="Times New Roman" pitchFamily="18" charset="0"/>
              </a:rPr>
              <a:t>TANK WATER LEVEL ALARM WITH  IOT</a:t>
            </a:r>
          </a:p>
        </p:txBody>
      </p:sp>
      <p:sp>
        <p:nvSpPr>
          <p:cNvPr id="9" name="Rectangle 8">
            <a:extLst>
              <a:ext uri="{FF2B5EF4-FFF2-40B4-BE49-F238E27FC236}">
                <a16:creationId xmlns:a16="http://schemas.microsoft.com/office/drawing/2014/main" id="{808A07EE-42F8-004C-0630-CB1E4824518C}"/>
              </a:ext>
            </a:extLst>
          </p:cNvPr>
          <p:cNvSpPr/>
          <p:nvPr/>
        </p:nvSpPr>
        <p:spPr>
          <a:xfrm>
            <a:off x="6096001" y="4104431"/>
            <a:ext cx="5201264" cy="212491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mn-ea"/>
              </a:rPr>
              <a:t>S. VIKRAM                    (927623BEE120)</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               R .VIKRAM                   (927623BEE119)</a:t>
            </a:r>
          </a:p>
          <a:p>
            <a:r>
              <a:rPr lang="en-US" dirty="0">
                <a:latin typeface="Times New Roman" panose="02020603050405020304" pitchFamily="18" charset="0"/>
                <a:cs typeface="Times New Roman" panose="02020603050405020304" pitchFamily="18" charset="0"/>
                <a:sym typeface="+mn-ea"/>
              </a:rPr>
              <a:t>               VIJAYPRASANA . B     (927623BEE117)</a:t>
            </a:r>
          </a:p>
          <a:p>
            <a:r>
              <a:rPr lang="en-US" dirty="0">
                <a:latin typeface="Times New Roman" panose="02020603050405020304" pitchFamily="18" charset="0"/>
                <a:cs typeface="Times New Roman" panose="02020603050405020304" pitchFamily="18" charset="0"/>
                <a:sym typeface="+mn-ea"/>
              </a:rPr>
              <a:t>               VIKNESHWARAN . A   (927623BEE118)</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               VIGNESHWARAN . S   (927623BEE116)</a:t>
            </a:r>
            <a:endParaRPr lang="en-US" dirty="0">
              <a:latin typeface="Times New Roman" panose="02020603050405020304" pitchFamily="18" charset="0"/>
              <a:cs typeface="Times New Roman" panose="02020603050405020304" pitchFamily="18" charset="0"/>
            </a:endParaRPr>
          </a:p>
          <a:p>
            <a:r>
              <a:rPr lang="en-US" dirty="0">
                <a:sym typeface="+mn-ea"/>
              </a:rPr>
              <a:t>  </a:t>
            </a:r>
            <a:endParaRPr lang="en-IN" dirty="0"/>
          </a:p>
        </p:txBody>
      </p:sp>
      <p:sp>
        <p:nvSpPr>
          <p:cNvPr id="10" name="Rectangle 9">
            <a:extLst>
              <a:ext uri="{FF2B5EF4-FFF2-40B4-BE49-F238E27FC236}">
                <a16:creationId xmlns:a16="http://schemas.microsoft.com/office/drawing/2014/main" id="{CCC21CFC-B364-1888-9A5E-064657AE87F9}"/>
              </a:ext>
            </a:extLst>
          </p:cNvPr>
          <p:cNvSpPr/>
          <p:nvPr/>
        </p:nvSpPr>
        <p:spPr>
          <a:xfrm>
            <a:off x="1100138" y="3781768"/>
            <a:ext cx="3128962" cy="192726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nSpc>
                <a:spcPct val="150000"/>
              </a:lnSpc>
            </a:pPr>
            <a:r>
              <a:rPr lang="en-US" sz="1800" dirty="0">
                <a:solidFill>
                  <a:schemeClr val="bg2">
                    <a:lumMod val="10000"/>
                  </a:schemeClr>
                </a:solidFill>
                <a:latin typeface="Times New Roman" panose="02020603050405020304" pitchFamily="18" charset="0"/>
                <a:cs typeface="Times New Roman" panose="02020603050405020304" pitchFamily="18" charset="0"/>
              </a:rPr>
              <a:t>BATCH NUMBER : 11</a:t>
            </a:r>
          </a:p>
          <a:p>
            <a:pPr>
              <a:lnSpc>
                <a:spcPct val="150000"/>
              </a:lnSpc>
            </a:pPr>
            <a:r>
              <a:rPr lang="en-US" sz="1800" dirty="0">
                <a:solidFill>
                  <a:schemeClr val="bg2">
                    <a:lumMod val="10000"/>
                  </a:schemeClr>
                </a:solidFill>
                <a:latin typeface="Times New Roman" panose="02020603050405020304" pitchFamily="18" charset="0"/>
                <a:cs typeface="Times New Roman" panose="02020603050405020304" pitchFamily="18" charset="0"/>
              </a:rPr>
              <a:t>DATE : 07 / 05 / 2025 </a:t>
            </a:r>
          </a:p>
          <a:p>
            <a:pPr algn="ctr"/>
            <a:endParaRPr lang="en-IN" dirty="0"/>
          </a:p>
        </p:txBody>
      </p:sp>
    </p:spTree>
    <p:extLst>
      <p:ext uri="{BB962C8B-B14F-4D97-AF65-F5344CB8AC3E}">
        <p14:creationId xmlns:p14="http://schemas.microsoft.com/office/powerpoint/2010/main" val="2935317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3EC90-2ED3-968C-26E3-95DE9A5F9D62}"/>
              </a:ext>
            </a:extLst>
          </p:cNvPr>
          <p:cNvSpPr>
            <a:spLocks noGrp="1"/>
          </p:cNvSpPr>
          <p:nvPr>
            <p:ph type="title"/>
          </p:nvPr>
        </p:nvSpPr>
        <p:spPr/>
        <p:txBody>
          <a:bodyPr/>
          <a:lstStyle/>
          <a:p>
            <a:pPr algn="ctr"/>
            <a:r>
              <a:rPr lang="en-IN" dirty="0"/>
              <a:t>Abstract</a:t>
            </a:r>
          </a:p>
        </p:txBody>
      </p:sp>
      <p:sp>
        <p:nvSpPr>
          <p:cNvPr id="3" name="Content Placeholder 2">
            <a:extLst>
              <a:ext uri="{FF2B5EF4-FFF2-40B4-BE49-F238E27FC236}">
                <a16:creationId xmlns:a16="http://schemas.microsoft.com/office/drawing/2014/main" id="{A41FA90D-C8DB-3E63-B389-1AFE1C413DC3}"/>
              </a:ext>
            </a:extLst>
          </p:cNvPr>
          <p:cNvSpPr>
            <a:spLocks noGrp="1"/>
          </p:cNvSpPr>
          <p:nvPr>
            <p:ph idx="1"/>
          </p:nvPr>
        </p:nvSpPr>
        <p:spPr>
          <a:xfrm>
            <a:off x="838200" y="1582738"/>
            <a:ext cx="10515600" cy="4351338"/>
          </a:xfrm>
        </p:spPr>
        <p:txBody>
          <a:bodyPr/>
          <a:lstStyle/>
          <a:p>
            <a:pPr algn="just">
              <a:lnSpc>
                <a:spcPct val="100000"/>
              </a:lnSpc>
            </a:pPr>
            <a:r>
              <a:rPr lang="en-IN" sz="2400" dirty="0">
                <a:latin typeface="Times New Roman" panose="02020603050405020304" pitchFamily="18" charset="0"/>
                <a:cs typeface="Times New Roman" panose="02020603050405020304" pitchFamily="18" charset="0"/>
              </a:rPr>
              <a:t>Water wastage due to overflow and dry running of motors is a common problem in households and industries. Manually monitoring water levels can be difficult, especially for elderly users. This project presents a simple and cost-effective water level monitoring system that allows users to switch the motor ON/OFF using a mobile keypad. </a:t>
            </a:r>
          </a:p>
          <a:p>
            <a:pPr algn="just">
              <a:lnSpc>
                <a:spcPct val="100000"/>
              </a:lnSpc>
            </a:pPr>
            <a:r>
              <a:rPr lang="en-IN" sz="2400" dirty="0">
                <a:latin typeface="Times New Roman" panose="02020603050405020304" pitchFamily="18" charset="0"/>
                <a:cs typeface="Times New Roman" panose="02020603050405020304" pitchFamily="18" charset="0"/>
              </a:rPr>
              <a:t>The system consists of water level sensors that detect water levels and provide alerts when the tank is full or empty. By integrating a remote motor control feature, this system eliminates the need for physical effort and ensures efficient water management.</a:t>
            </a:r>
          </a:p>
        </p:txBody>
      </p:sp>
    </p:spTree>
    <p:extLst>
      <p:ext uri="{BB962C8B-B14F-4D97-AF65-F5344CB8AC3E}">
        <p14:creationId xmlns:p14="http://schemas.microsoft.com/office/powerpoint/2010/main" val="766507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F1114-C53A-E455-319A-276F3008C578}"/>
              </a:ext>
            </a:extLst>
          </p:cNvPr>
          <p:cNvSpPr>
            <a:spLocks noGrp="1"/>
          </p:cNvSpPr>
          <p:nvPr>
            <p:ph type="title"/>
          </p:nvPr>
        </p:nvSpPr>
        <p:spPr/>
        <p:txBody>
          <a:bodyPr/>
          <a:lstStyle/>
          <a:p>
            <a:pPr algn="ctr"/>
            <a:r>
              <a:rPr lang="en-IN" dirty="0"/>
              <a:t>Objective</a:t>
            </a:r>
          </a:p>
        </p:txBody>
      </p:sp>
      <p:sp>
        <p:nvSpPr>
          <p:cNvPr id="3" name="Content Placeholder 2">
            <a:extLst>
              <a:ext uri="{FF2B5EF4-FFF2-40B4-BE49-F238E27FC236}">
                <a16:creationId xmlns:a16="http://schemas.microsoft.com/office/drawing/2014/main" id="{80A9BA4E-9D1C-8563-0AA5-E2E6DBD5E63C}"/>
              </a:ext>
            </a:extLst>
          </p:cNvPr>
          <p:cNvSpPr>
            <a:spLocks noGrp="1"/>
          </p:cNvSpPr>
          <p:nvPr>
            <p:ph idx="1"/>
          </p:nvPr>
        </p:nvSpPr>
        <p:spPr>
          <a:xfrm>
            <a:off x="838200" y="1690688"/>
            <a:ext cx="10515600" cy="4351338"/>
          </a:xfrm>
        </p:spPr>
        <p:txBody>
          <a:bodyPr>
            <a:normAutofit/>
          </a:bodyPr>
          <a:lstStyle/>
          <a:p>
            <a:pPr marL="285750" lvl="0" indent="-285750" algn="just" eaLnBrk="0" fontAlgn="base" hangingPunct="0">
              <a:lnSpc>
                <a:spcPct val="100000"/>
              </a:lnSpc>
              <a:spcBef>
                <a:spcPct val="0"/>
              </a:spcBef>
              <a:spcAft>
                <a:spcPct val="0"/>
              </a:spcAft>
              <a:buFont typeface="Arial" panose="020B0604020202020204" pitchFamily="34" charset="0"/>
              <a:buChar char="•"/>
            </a:pPr>
            <a:r>
              <a:rPr lang="en-US" altLang="en-US" sz="2400" dirty="0">
                <a:latin typeface="Times New Roman" pitchFamily="18" charset="0"/>
                <a:cs typeface="Times New Roman" pitchFamily="18" charset="0"/>
              </a:rPr>
              <a:t>To develop an automatic water level monitoring system to reduce human intervention.</a:t>
            </a:r>
          </a:p>
          <a:p>
            <a:pPr marL="285750" lvl="0" indent="-285750" algn="just" eaLnBrk="0" fontAlgn="base" hangingPunct="0">
              <a:lnSpc>
                <a:spcPct val="100000"/>
              </a:lnSpc>
              <a:spcBef>
                <a:spcPct val="0"/>
              </a:spcBef>
              <a:spcAft>
                <a:spcPct val="0"/>
              </a:spcAft>
              <a:buFont typeface="Arial" panose="020B0604020202020204" pitchFamily="34" charset="0"/>
              <a:buChar char="•"/>
            </a:pPr>
            <a:r>
              <a:rPr lang="en-US" altLang="en-US" sz="2400" dirty="0">
                <a:latin typeface="Times New Roman" pitchFamily="18" charset="0"/>
                <a:cs typeface="Times New Roman" pitchFamily="18" charset="0"/>
              </a:rPr>
              <a:t>To enable mobile keypad-based remote motor control, making it convenient for elderly users.</a:t>
            </a:r>
          </a:p>
          <a:p>
            <a:pPr marL="285750" lvl="0" indent="-285750" algn="just" eaLnBrk="0" fontAlgn="base" hangingPunct="0">
              <a:lnSpc>
                <a:spcPct val="100000"/>
              </a:lnSpc>
              <a:spcBef>
                <a:spcPct val="0"/>
              </a:spcBef>
              <a:spcAft>
                <a:spcPct val="0"/>
              </a:spcAft>
              <a:buFont typeface="Arial" panose="020B0604020202020204" pitchFamily="34" charset="0"/>
              <a:buChar char="•"/>
            </a:pPr>
            <a:r>
              <a:rPr lang="en-US" altLang="en-US" sz="2400" dirty="0">
                <a:latin typeface="Times New Roman" pitchFamily="18" charset="0"/>
                <a:cs typeface="Times New Roman" pitchFamily="18" charset="0"/>
              </a:rPr>
              <a:t>To prevent overflow and dry running of the motor, saving water and electricity.</a:t>
            </a:r>
          </a:p>
          <a:p>
            <a:pPr marL="285750" lvl="0" indent="-285750" algn="just" eaLnBrk="0" fontAlgn="base" hangingPunct="0">
              <a:lnSpc>
                <a:spcPct val="100000"/>
              </a:lnSpc>
              <a:spcBef>
                <a:spcPct val="0"/>
              </a:spcBef>
              <a:spcAft>
                <a:spcPct val="0"/>
              </a:spcAft>
              <a:buFont typeface="Arial" panose="020B0604020202020204" pitchFamily="34" charset="0"/>
              <a:buChar char="•"/>
            </a:pPr>
            <a:r>
              <a:rPr lang="en-US" altLang="en-US" sz="2400" dirty="0">
                <a:latin typeface="Times New Roman" pitchFamily="18" charset="0"/>
                <a:cs typeface="Times New Roman" pitchFamily="18" charset="0"/>
              </a:rPr>
              <a:t>To design a low-cost and easy-to-install system for households and industries</a:t>
            </a:r>
            <a:endParaRPr lang="en-IN" sz="2400" dirty="0"/>
          </a:p>
        </p:txBody>
      </p:sp>
    </p:spTree>
    <p:extLst>
      <p:ext uri="{BB962C8B-B14F-4D97-AF65-F5344CB8AC3E}">
        <p14:creationId xmlns:p14="http://schemas.microsoft.com/office/powerpoint/2010/main" val="2266580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32FA1-1A71-9F9B-0697-C2E7D80DB1C7}"/>
              </a:ext>
            </a:extLst>
          </p:cNvPr>
          <p:cNvSpPr>
            <a:spLocks noGrp="1"/>
          </p:cNvSpPr>
          <p:nvPr>
            <p:ph type="title"/>
          </p:nvPr>
        </p:nvSpPr>
        <p:spPr>
          <a:xfrm>
            <a:off x="838200" y="171450"/>
            <a:ext cx="10515600" cy="1325563"/>
          </a:xfrm>
        </p:spPr>
        <p:txBody>
          <a:bodyPr/>
          <a:lstStyle/>
          <a:p>
            <a:pPr algn="ctr"/>
            <a:r>
              <a:rPr lang="en-IN" dirty="0"/>
              <a:t>Proposed idea</a:t>
            </a:r>
          </a:p>
        </p:txBody>
      </p:sp>
      <p:sp>
        <p:nvSpPr>
          <p:cNvPr id="3" name="Content Placeholder 2">
            <a:extLst>
              <a:ext uri="{FF2B5EF4-FFF2-40B4-BE49-F238E27FC236}">
                <a16:creationId xmlns:a16="http://schemas.microsoft.com/office/drawing/2014/main" id="{AFDA782C-953F-5C99-2F6D-3FB391A5BAA4}"/>
              </a:ext>
            </a:extLst>
          </p:cNvPr>
          <p:cNvSpPr>
            <a:spLocks noGrp="1"/>
          </p:cNvSpPr>
          <p:nvPr>
            <p:ph idx="1"/>
          </p:nvPr>
        </p:nvSpPr>
        <p:spPr>
          <a:xfrm>
            <a:off x="838200" y="1253331"/>
            <a:ext cx="10515600" cy="4351338"/>
          </a:xfrm>
        </p:spPr>
        <p:txBody>
          <a:bodyPr>
            <a:noAutofit/>
          </a:bodyPr>
          <a:lstStyle/>
          <a:p>
            <a:pPr algn="just">
              <a:lnSpc>
                <a:spcPct val="120000"/>
              </a:lnSpc>
            </a:pPr>
            <a:r>
              <a:rPr lang="en-IN" sz="2400" dirty="0">
                <a:latin typeface="Times New Roman" panose="02020603050405020304" pitchFamily="18" charset="0"/>
                <a:cs typeface="Times New Roman" panose="02020603050405020304" pitchFamily="18" charset="0"/>
              </a:rPr>
              <a:t>The idea of this project is to make a water tank system that can alert people when the water is full or empty and also allow them to turn the motor ON or OFF indicator using a basic mobile phone keypad.</a:t>
            </a:r>
          </a:p>
          <a:p>
            <a:pPr algn="just">
              <a:lnSpc>
                <a:spcPct val="120000"/>
              </a:lnSpc>
            </a:pPr>
            <a:r>
              <a:rPr lang="en-IN"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After gathering all the things required you`ll need to first open the remote of the bell from the back side and install the cell in my case it is of 12Volt and 23amp cell and after installing cell in remote you will need to install 1.5V AA cells in receiver and after installation of cells check the bell it should work properly and also test the range it should be according to your need.</a:t>
            </a:r>
          </a:p>
          <a:p>
            <a:pPr algn="just">
              <a:lnSpc>
                <a:spcPct val="120000"/>
              </a:lnSpc>
            </a:pP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This system is very helpful for old-age people who cannot walk often to check the tank or press wall switches. With the help of simple sensors and a control setup, the motor can be easily operated from anywhere nearby using just a phone.</a:t>
            </a:r>
          </a:p>
        </p:txBody>
      </p:sp>
    </p:spTree>
    <p:extLst>
      <p:ext uri="{BB962C8B-B14F-4D97-AF65-F5344CB8AC3E}">
        <p14:creationId xmlns:p14="http://schemas.microsoft.com/office/powerpoint/2010/main" val="222947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F157F-989F-F54C-A034-EA22D7F007FF}"/>
              </a:ext>
            </a:extLst>
          </p:cNvPr>
          <p:cNvSpPr>
            <a:spLocks noGrp="1"/>
          </p:cNvSpPr>
          <p:nvPr>
            <p:ph type="title"/>
          </p:nvPr>
        </p:nvSpPr>
        <p:spPr>
          <a:xfrm>
            <a:off x="838200" y="0"/>
            <a:ext cx="10515600" cy="1325563"/>
          </a:xfrm>
        </p:spPr>
        <p:txBody>
          <a:bodyPr/>
          <a:lstStyle/>
          <a:p>
            <a:pPr algn="ctr"/>
            <a:r>
              <a:rPr lang="en-IN" dirty="0"/>
              <a:t>Block diagram </a:t>
            </a:r>
          </a:p>
        </p:txBody>
      </p:sp>
      <p:pic>
        <p:nvPicPr>
          <p:cNvPr id="8" name="Content Placeholder 7">
            <a:extLst>
              <a:ext uri="{FF2B5EF4-FFF2-40B4-BE49-F238E27FC236}">
                <a16:creationId xmlns:a16="http://schemas.microsoft.com/office/drawing/2014/main" id="{5145E1F1-8255-738B-C77A-CE4338E04D73}"/>
              </a:ext>
            </a:extLst>
          </p:cNvPr>
          <p:cNvPicPr>
            <a:picLocks noGrp="1" noChangeAspect="1"/>
          </p:cNvPicPr>
          <p:nvPr>
            <p:ph idx="1"/>
          </p:nvPr>
        </p:nvPicPr>
        <p:blipFill>
          <a:blip r:embed="rId2"/>
          <a:srcRect l="8409" t="19317" r="9963" b="9853"/>
          <a:stretch/>
        </p:blipFill>
        <p:spPr>
          <a:xfrm>
            <a:off x="2706414" y="1325563"/>
            <a:ext cx="6779171" cy="4368799"/>
          </a:xfrm>
          <a:prstGeom prst="rect">
            <a:avLst/>
          </a:prstGeom>
        </p:spPr>
      </p:pic>
    </p:spTree>
    <p:extLst>
      <p:ext uri="{BB962C8B-B14F-4D97-AF65-F5344CB8AC3E}">
        <p14:creationId xmlns:p14="http://schemas.microsoft.com/office/powerpoint/2010/main" val="1327975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9B236-F9D4-6022-8C80-7B4F929CDB8B}"/>
              </a:ext>
            </a:extLst>
          </p:cNvPr>
          <p:cNvSpPr>
            <a:spLocks noGrp="1"/>
          </p:cNvSpPr>
          <p:nvPr>
            <p:ph type="title"/>
          </p:nvPr>
        </p:nvSpPr>
        <p:spPr/>
        <p:txBody>
          <a:bodyPr/>
          <a:lstStyle/>
          <a:p>
            <a:pPr algn="ctr"/>
            <a:r>
              <a:rPr lang="en-IN" dirty="0"/>
              <a:t>Components </a:t>
            </a:r>
          </a:p>
        </p:txBody>
      </p:sp>
      <p:sp>
        <p:nvSpPr>
          <p:cNvPr id="3" name="Content Placeholder 2">
            <a:extLst>
              <a:ext uri="{FF2B5EF4-FFF2-40B4-BE49-F238E27FC236}">
                <a16:creationId xmlns:a16="http://schemas.microsoft.com/office/drawing/2014/main" id="{FBB1671E-97CC-BCE4-5DFD-C62A41913508}"/>
              </a:ext>
            </a:extLst>
          </p:cNvPr>
          <p:cNvSpPr>
            <a:spLocks noGrp="1"/>
          </p:cNvSpPr>
          <p:nvPr>
            <p:ph idx="1"/>
          </p:nvPr>
        </p:nvSpPr>
        <p:spPr>
          <a:xfrm>
            <a:off x="838200" y="1595438"/>
            <a:ext cx="10515600" cy="4351338"/>
          </a:xfrm>
        </p:spPr>
        <p:txBody>
          <a:bodyPr>
            <a:noAutofit/>
          </a:bodyPr>
          <a:lstStyle/>
          <a:p>
            <a:pPr marL="114300" indent="0" algn="just">
              <a:buNone/>
            </a:pPr>
            <a:r>
              <a:rPr lang="en-IN" sz="2400" b="1" dirty="0">
                <a:latin typeface="Times New Roman" pitchFamily="18" charset="0"/>
                <a:cs typeface="Times New Roman" pitchFamily="18" charset="0"/>
              </a:rPr>
              <a:t>Water Level Float Sensors</a:t>
            </a:r>
          </a:p>
          <a:p>
            <a:pPr algn="just">
              <a:buFont typeface="Arial" panose="020B0604020202020204" pitchFamily="34" charset="0"/>
              <a:buChar char="•"/>
            </a:pPr>
            <a:r>
              <a:rPr lang="en-IN" sz="2400" dirty="0">
                <a:latin typeface="Times New Roman" pitchFamily="18" charset="0"/>
                <a:cs typeface="Times New Roman" pitchFamily="18" charset="0"/>
              </a:rPr>
              <a:t>Detects</a:t>
            </a:r>
            <a:r>
              <a:rPr lang="en-IN" sz="2400" b="1" dirty="0">
                <a:latin typeface="Times New Roman" pitchFamily="18" charset="0"/>
                <a:cs typeface="Times New Roman" pitchFamily="18" charset="0"/>
              </a:rPr>
              <a:t> </a:t>
            </a:r>
            <a:r>
              <a:rPr lang="en-IN" sz="2400" dirty="0">
                <a:latin typeface="Times New Roman" pitchFamily="18" charset="0"/>
                <a:cs typeface="Times New Roman" pitchFamily="18" charset="0"/>
              </a:rPr>
              <a:t>Full water levels.</a:t>
            </a:r>
          </a:p>
          <a:p>
            <a:pPr algn="just">
              <a:buFont typeface="Arial" panose="020B0604020202020204" pitchFamily="34" charset="0"/>
              <a:buChar char="•"/>
            </a:pPr>
            <a:r>
              <a:rPr lang="en-IN" sz="2400" dirty="0">
                <a:latin typeface="Times New Roman" pitchFamily="18" charset="0"/>
                <a:cs typeface="Times New Roman" pitchFamily="18" charset="0"/>
              </a:rPr>
              <a:t>Sends signals to the control circuit to trigger motor operation.</a:t>
            </a:r>
          </a:p>
          <a:p>
            <a:pPr marL="114300" indent="0" algn="just">
              <a:buNone/>
            </a:pPr>
            <a:r>
              <a:rPr lang="en-IN" sz="2400" b="1" dirty="0">
                <a:latin typeface="Times New Roman" pitchFamily="18" charset="0"/>
                <a:cs typeface="Times New Roman" pitchFamily="18" charset="0"/>
              </a:rPr>
              <a:t> Bell Indicator</a:t>
            </a:r>
          </a:p>
          <a:p>
            <a:pPr algn="just">
              <a:buFont typeface="Arial" panose="020B0604020202020204" pitchFamily="34" charset="0"/>
              <a:buChar char="•"/>
            </a:pPr>
            <a:r>
              <a:rPr lang="en-IN" sz="2400" dirty="0">
                <a:latin typeface="Times New Roman" pitchFamily="18" charset="0"/>
                <a:cs typeface="Times New Roman" pitchFamily="18" charset="0"/>
              </a:rPr>
              <a:t>Alerts users when the tank is full.</a:t>
            </a:r>
          </a:p>
          <a:p>
            <a:pPr algn="just">
              <a:buFont typeface="Arial" panose="020B0604020202020204" pitchFamily="34" charset="0"/>
              <a:buChar char="•"/>
            </a:pPr>
            <a:r>
              <a:rPr lang="en-IN" sz="2400" dirty="0">
                <a:latin typeface="Times New Roman" pitchFamily="18" charset="0"/>
                <a:cs typeface="Times New Roman" pitchFamily="18" charset="0"/>
              </a:rPr>
              <a:t>Provides visual feedback on system operation.</a:t>
            </a:r>
          </a:p>
          <a:p>
            <a:pPr marL="114300" indent="0" algn="just">
              <a:buNone/>
            </a:pPr>
            <a:r>
              <a:rPr lang="en-IN" sz="2400" b="1" dirty="0">
                <a:latin typeface="Times New Roman" pitchFamily="18" charset="0"/>
                <a:cs typeface="Times New Roman" pitchFamily="18" charset="0"/>
              </a:rPr>
              <a:t> Mobile Keypad Control</a:t>
            </a:r>
          </a:p>
          <a:p>
            <a:pPr algn="just">
              <a:buFont typeface="Arial" panose="020B0604020202020204" pitchFamily="34" charset="0"/>
              <a:buChar char="•"/>
            </a:pPr>
            <a:r>
              <a:rPr lang="en-IN" sz="2400" dirty="0">
                <a:latin typeface="Times New Roman" pitchFamily="18" charset="0"/>
                <a:cs typeface="Times New Roman" pitchFamily="18" charset="0"/>
              </a:rPr>
              <a:t>Allows users to turn the motor ON/OFF </a:t>
            </a:r>
            <a:r>
              <a:rPr lang="en-IN" sz="2400" dirty="0" err="1">
                <a:latin typeface="Times New Roman" pitchFamily="18" charset="0"/>
                <a:cs typeface="Times New Roman" pitchFamily="18" charset="0"/>
              </a:rPr>
              <a:t>manualy</a:t>
            </a:r>
            <a:r>
              <a:rPr lang="en-IN" sz="2400" dirty="0">
                <a:latin typeface="Times New Roman" pitchFamily="18" charset="0"/>
                <a:cs typeface="Times New Roman" pitchFamily="18" charset="0"/>
              </a:rPr>
              <a:t> observing using a simple mobile phone.</a:t>
            </a:r>
          </a:p>
          <a:p>
            <a:pPr algn="just">
              <a:buFont typeface="Arial" panose="020B0604020202020204" pitchFamily="34" charset="0"/>
              <a:buChar char="•"/>
            </a:pPr>
            <a:r>
              <a:rPr lang="en-IN" sz="2400" dirty="0">
                <a:latin typeface="Times New Roman" pitchFamily="18" charset="0"/>
                <a:cs typeface="Times New Roman" pitchFamily="18" charset="0"/>
              </a:rPr>
              <a:t>Uses the need for manual switches that helps to reduce waste water .</a:t>
            </a:r>
          </a:p>
        </p:txBody>
      </p:sp>
    </p:spTree>
    <p:extLst>
      <p:ext uri="{BB962C8B-B14F-4D97-AF65-F5344CB8AC3E}">
        <p14:creationId xmlns:p14="http://schemas.microsoft.com/office/powerpoint/2010/main" val="3910304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E02C3-CD91-1CA6-25A5-B87CC69CACA0}"/>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Working</a:t>
            </a:r>
          </a:p>
        </p:txBody>
      </p:sp>
      <p:sp>
        <p:nvSpPr>
          <p:cNvPr id="3" name="Content Placeholder 2">
            <a:extLst>
              <a:ext uri="{FF2B5EF4-FFF2-40B4-BE49-F238E27FC236}">
                <a16:creationId xmlns:a16="http://schemas.microsoft.com/office/drawing/2014/main" id="{D384B00C-44EC-F1B4-D775-C9CD5CF05A49}"/>
              </a:ext>
            </a:extLst>
          </p:cNvPr>
          <p:cNvSpPr>
            <a:spLocks noGrp="1"/>
          </p:cNvSpPr>
          <p:nvPr>
            <p:ph idx="1"/>
          </p:nvPr>
        </p:nvSpPr>
        <p:spPr/>
        <p:txBody>
          <a:bodyPr/>
          <a:lstStyle/>
          <a:p>
            <a:pPr>
              <a:lnSpc>
                <a:spcPct val="100000"/>
              </a:lnSpc>
              <a:buFont typeface="Arial" panose="020B0604020202020204" pitchFamily="34" charset="0"/>
              <a:buChar char="•"/>
            </a:pPr>
            <a:r>
              <a:rPr lang="en-IN" sz="2400" dirty="0">
                <a:latin typeface="Times New Roman" pitchFamily="18" charset="0"/>
                <a:cs typeface="Times New Roman" pitchFamily="18" charset="0"/>
              </a:rPr>
              <a:t>Water level detect Full levels and send signals to the control circuit as in the calling bell.</a:t>
            </a:r>
          </a:p>
          <a:p>
            <a:pPr>
              <a:lnSpc>
                <a:spcPct val="100000"/>
              </a:lnSpc>
              <a:buFont typeface="Arial" panose="020B0604020202020204" pitchFamily="34" charset="0"/>
              <a:buChar char="•"/>
            </a:pPr>
            <a:r>
              <a:rPr lang="en-IN" sz="2400" dirty="0">
                <a:latin typeface="Times New Roman" pitchFamily="18" charset="0"/>
                <a:cs typeface="Times New Roman" pitchFamily="18" charset="0"/>
              </a:rPr>
              <a:t>When the tank is full, the system activates an alarm and an LED indicator.</a:t>
            </a:r>
          </a:p>
          <a:p>
            <a:pPr>
              <a:lnSpc>
                <a:spcPct val="100000"/>
              </a:lnSpc>
              <a:buFont typeface="Arial" panose="020B0604020202020204" pitchFamily="34" charset="0"/>
              <a:buChar char="•"/>
            </a:pPr>
            <a:r>
              <a:rPr lang="en-IN" sz="2400" dirty="0">
                <a:latin typeface="Times New Roman" pitchFamily="18" charset="0"/>
                <a:cs typeface="Times New Roman" pitchFamily="18" charset="0"/>
              </a:rPr>
              <a:t>Users can turn off </a:t>
            </a:r>
            <a:r>
              <a:rPr lang="en-IN" sz="2400" dirty="0" err="1">
                <a:latin typeface="Times New Roman" pitchFamily="18" charset="0"/>
                <a:cs typeface="Times New Roman" pitchFamily="18" charset="0"/>
              </a:rPr>
              <a:t>manualy</a:t>
            </a:r>
            <a:r>
              <a:rPr lang="en-IN" sz="2400" dirty="0">
                <a:latin typeface="Times New Roman" pitchFamily="18" charset="0"/>
                <a:cs typeface="Times New Roman" pitchFamily="18" charset="0"/>
              </a:rPr>
              <a:t> using a mobile keypad, reducing the overflow of water</a:t>
            </a:r>
          </a:p>
          <a:p>
            <a:pPr>
              <a:lnSpc>
                <a:spcPct val="100000"/>
              </a:lnSpc>
              <a:buFont typeface="Arial" panose="020B0604020202020204" pitchFamily="34" charset="0"/>
              <a:buChar char="•"/>
            </a:pPr>
            <a:r>
              <a:rPr lang="en-IN" sz="2400" dirty="0">
                <a:latin typeface="Times New Roman" pitchFamily="18" charset="0"/>
                <a:cs typeface="Times New Roman" pitchFamily="18" charset="0"/>
              </a:rPr>
              <a:t>The system automatically stops the motor when the tank is full to prevent wastage.</a:t>
            </a:r>
          </a:p>
          <a:p>
            <a:pPr>
              <a:lnSpc>
                <a:spcPct val="100000"/>
              </a:lnSpc>
            </a:pPr>
            <a:endParaRPr lang="en-US" sz="2800"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979292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E390B-CD68-690F-FD48-A54D0B8AFA0F}"/>
              </a:ext>
            </a:extLst>
          </p:cNvPr>
          <p:cNvSpPr>
            <a:spLocks noGrp="1"/>
          </p:cNvSpPr>
          <p:nvPr>
            <p:ph type="title"/>
          </p:nvPr>
        </p:nvSpPr>
        <p:spPr>
          <a:xfrm>
            <a:off x="838200" y="153192"/>
            <a:ext cx="10515600" cy="1325563"/>
          </a:xfrm>
        </p:spPr>
        <p:txBody>
          <a:bodyPr/>
          <a:lstStyle/>
          <a:p>
            <a:pPr algn="ctr"/>
            <a:r>
              <a:rPr lang="en-IN" dirty="0"/>
              <a:t>Result</a:t>
            </a:r>
          </a:p>
        </p:txBody>
      </p:sp>
      <p:sp>
        <p:nvSpPr>
          <p:cNvPr id="3" name="Content Placeholder 2">
            <a:extLst>
              <a:ext uri="{FF2B5EF4-FFF2-40B4-BE49-F238E27FC236}">
                <a16:creationId xmlns:a16="http://schemas.microsoft.com/office/drawing/2014/main" id="{B85C25F2-A3B2-AD98-3D87-461647E5F7E8}"/>
              </a:ext>
            </a:extLst>
          </p:cNvPr>
          <p:cNvSpPr>
            <a:spLocks noGrp="1"/>
          </p:cNvSpPr>
          <p:nvPr>
            <p:ph idx="1"/>
          </p:nvPr>
        </p:nvSpPr>
        <p:spPr>
          <a:xfrm>
            <a:off x="838200" y="1690688"/>
            <a:ext cx="10648950" cy="3552825"/>
          </a:xfrm>
        </p:spPr>
        <p:txBody>
          <a:bodyPr>
            <a:noAutofit/>
          </a:bodyPr>
          <a:lstStyle/>
          <a:p>
            <a:pPr marL="0" indent="0" algn="just">
              <a:lnSpc>
                <a:spcPct val="100000"/>
              </a:lnSpc>
              <a:buNone/>
            </a:pPr>
            <a:r>
              <a:rPr lang="en-IN" sz="2400" dirty="0">
                <a:latin typeface="Times New Roman" panose="02020603050405020304" pitchFamily="18" charset="0"/>
                <a:cs typeface="Times New Roman" panose="02020603050405020304" pitchFamily="18" charset="0"/>
              </a:rPr>
              <a:t>The Tank Water Level Alarm with IoT system was successfully designed and implemented using a float sensor and a wireless bell unit. Upon testing, the float sensor accurately detected the high water level in the tank. When the water reached the preset level, it triggered the wireless bell remote, which in turn sent a signal to the indoor bell receiver. The bell rang promptly, providing an audible alert that the tank was full. The system worked reliably within the wireless range and required minimal power, making it a cost-effective and user-friendly solution for household water monitoring.</a:t>
            </a:r>
          </a:p>
        </p:txBody>
      </p:sp>
    </p:spTree>
    <p:extLst>
      <p:ext uri="{BB962C8B-B14F-4D97-AF65-F5344CB8AC3E}">
        <p14:creationId xmlns:p14="http://schemas.microsoft.com/office/powerpoint/2010/main" val="3782525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619E-4E42-D009-C480-6DF8144BF525}"/>
              </a:ext>
            </a:extLst>
          </p:cNvPr>
          <p:cNvSpPr>
            <a:spLocks noGrp="1"/>
          </p:cNvSpPr>
          <p:nvPr>
            <p:ph type="title"/>
          </p:nvPr>
        </p:nvSpPr>
        <p:spPr>
          <a:xfrm>
            <a:off x="838199" y="22225"/>
            <a:ext cx="10515600" cy="1325563"/>
          </a:xfrm>
        </p:spPr>
        <p:txBody>
          <a:bodyPr/>
          <a:lstStyle/>
          <a:p>
            <a:pPr algn="ctr"/>
            <a:r>
              <a:rPr lang="en-IN" dirty="0"/>
              <a:t>Kit picture</a:t>
            </a:r>
          </a:p>
        </p:txBody>
      </p:sp>
      <p:pic>
        <p:nvPicPr>
          <p:cNvPr id="5" name="Content Placeholder 4">
            <a:extLst>
              <a:ext uri="{FF2B5EF4-FFF2-40B4-BE49-F238E27FC236}">
                <a16:creationId xmlns:a16="http://schemas.microsoft.com/office/drawing/2014/main" id="{A45A8916-BB05-7758-BE46-0F198DEC61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88580" y="1347788"/>
            <a:ext cx="4414837" cy="5195000"/>
          </a:xfrm>
        </p:spPr>
      </p:pic>
    </p:spTree>
    <p:extLst>
      <p:ext uri="{BB962C8B-B14F-4D97-AF65-F5344CB8AC3E}">
        <p14:creationId xmlns:p14="http://schemas.microsoft.com/office/powerpoint/2010/main" val="3316753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D5162-FF68-4C8A-833F-84F4F6BD521E}"/>
              </a:ext>
            </a:extLst>
          </p:cNvPr>
          <p:cNvSpPr>
            <a:spLocks noGrp="1"/>
          </p:cNvSpPr>
          <p:nvPr>
            <p:ph type="title"/>
          </p:nvPr>
        </p:nvSpPr>
        <p:spPr>
          <a:xfrm>
            <a:off x="838199" y="-22227"/>
            <a:ext cx="10515600" cy="1325563"/>
          </a:xfrm>
        </p:spPr>
        <p:txBody>
          <a:bodyPr/>
          <a:lstStyle/>
          <a:p>
            <a:pPr algn="ctr"/>
            <a:r>
              <a:rPr lang="en-IN" dirty="0"/>
              <a:t>Demo pictures</a:t>
            </a:r>
          </a:p>
        </p:txBody>
      </p:sp>
      <p:pic>
        <p:nvPicPr>
          <p:cNvPr id="5" name="Content Placeholder 4">
            <a:extLst>
              <a:ext uri="{FF2B5EF4-FFF2-40B4-BE49-F238E27FC236}">
                <a16:creationId xmlns:a16="http://schemas.microsoft.com/office/drawing/2014/main" id="{B64BB282-03D3-8FF6-AA09-C93DF11125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78186" y="1303336"/>
            <a:ext cx="4264226" cy="5254627"/>
          </a:xfrm>
        </p:spPr>
      </p:pic>
    </p:spTree>
    <p:extLst>
      <p:ext uri="{BB962C8B-B14F-4D97-AF65-F5344CB8AC3E}">
        <p14:creationId xmlns:p14="http://schemas.microsoft.com/office/powerpoint/2010/main" val="1181180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D5162-FF68-4C8A-833F-84F4F6BD521E}"/>
              </a:ext>
            </a:extLst>
          </p:cNvPr>
          <p:cNvSpPr>
            <a:spLocks noGrp="1"/>
          </p:cNvSpPr>
          <p:nvPr>
            <p:ph type="title"/>
          </p:nvPr>
        </p:nvSpPr>
        <p:spPr>
          <a:xfrm>
            <a:off x="836612" y="-228600"/>
            <a:ext cx="3932237" cy="1649896"/>
          </a:xfrm>
        </p:spPr>
        <p:txBody>
          <a:bodyPr/>
          <a:lstStyle/>
          <a:p>
            <a:pPr algn="ctr"/>
            <a:r>
              <a:rPr lang="en-IN" dirty="0"/>
              <a:t>Feedback and Demo picture</a:t>
            </a:r>
          </a:p>
        </p:txBody>
      </p:sp>
      <p:sp>
        <p:nvSpPr>
          <p:cNvPr id="8" name="Text Placeholder 7">
            <a:extLst>
              <a:ext uri="{FF2B5EF4-FFF2-40B4-BE49-F238E27FC236}">
                <a16:creationId xmlns:a16="http://schemas.microsoft.com/office/drawing/2014/main" id="{F1A5E361-AF75-44B4-967E-BD879F54E3B9}"/>
              </a:ext>
            </a:extLst>
          </p:cNvPr>
          <p:cNvSpPr>
            <a:spLocks noGrp="1"/>
          </p:cNvSpPr>
          <p:nvPr>
            <p:ph type="body" sz="half" idx="2"/>
          </p:nvPr>
        </p:nvSpPr>
        <p:spPr>
          <a:xfrm>
            <a:off x="836612" y="1572384"/>
            <a:ext cx="3932237" cy="4288666"/>
          </a:xfrm>
        </p:spPr>
        <p:txBody>
          <a:bodyPr/>
          <a:lstStyle/>
          <a:p>
            <a:pPr>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ROLE : Customer feedback</a:t>
            </a:r>
            <a:endParaRPr lang="en-IN" sz="1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I can now operate the pump from my mobile while working in the field.</a:t>
            </a:r>
            <a:endParaRPr lang="en-IN" sz="1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This device saved my crops from drying due to empty tanks.</a:t>
            </a:r>
            <a:endParaRPr lang="en-IN" sz="1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It works well with simple components low maintenance.</a:t>
            </a:r>
            <a:endParaRPr lang="en-IN" sz="1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The cost is affordable, and I didn’t need to hire a technician.</a:t>
            </a:r>
            <a:endParaRPr lang="en-IN" sz="1100" dirty="0">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10" name="Picture Placeholder 9">
            <a:extLst>
              <a:ext uri="{FF2B5EF4-FFF2-40B4-BE49-F238E27FC236}">
                <a16:creationId xmlns:a16="http://schemas.microsoft.com/office/drawing/2014/main" id="{9C22E447-CC08-4852-9701-6533B4B3CCA1}"/>
              </a:ext>
            </a:extLst>
          </p:cNvPr>
          <p:cNvPicPr>
            <a:picLocks noGrp="1" noChangeAspect="1"/>
          </p:cNvPicPr>
          <p:nvPr>
            <p:ph type="pic" idx="1"/>
          </p:nvPr>
        </p:nvPicPr>
        <p:blipFill>
          <a:blip r:embed="rId2"/>
          <a:srcRect t="4921" b="4921"/>
          <a:stretch>
            <a:fillRect/>
          </a:stretch>
        </p:blipFill>
        <p:spPr>
          <a:xfrm>
            <a:off x="5183188" y="987425"/>
            <a:ext cx="6172200" cy="4873625"/>
          </a:xfrm>
          <a:prstGeom prst="rect">
            <a:avLst/>
          </a:prstGeom>
        </p:spPr>
      </p:pic>
    </p:spTree>
    <p:extLst>
      <p:ext uri="{BB962C8B-B14F-4D97-AF65-F5344CB8AC3E}">
        <p14:creationId xmlns:p14="http://schemas.microsoft.com/office/powerpoint/2010/main" val="1207545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A8C40-9EA6-1F5D-0CCB-D9B029CC9417}"/>
              </a:ext>
            </a:extLst>
          </p:cNvPr>
          <p:cNvSpPr>
            <a:spLocks noGrp="1"/>
          </p:cNvSpPr>
          <p:nvPr>
            <p:ph type="title"/>
          </p:nvPr>
        </p:nvSpPr>
        <p:spPr>
          <a:xfrm>
            <a:off x="838200" y="18255"/>
            <a:ext cx="10515600" cy="1325563"/>
          </a:xfrm>
        </p:spPr>
        <p:txBody>
          <a:bodyPr/>
          <a:lstStyle/>
          <a:p>
            <a:pPr algn="ctr"/>
            <a:r>
              <a:rPr lang="en-IN" dirty="0"/>
              <a:t>Conclusion </a:t>
            </a:r>
          </a:p>
        </p:txBody>
      </p:sp>
      <p:sp>
        <p:nvSpPr>
          <p:cNvPr id="3" name="Content Placeholder 2">
            <a:extLst>
              <a:ext uri="{FF2B5EF4-FFF2-40B4-BE49-F238E27FC236}">
                <a16:creationId xmlns:a16="http://schemas.microsoft.com/office/drawing/2014/main" id="{A4296755-3402-98A5-294A-2617C387DE46}"/>
              </a:ext>
            </a:extLst>
          </p:cNvPr>
          <p:cNvSpPr>
            <a:spLocks noGrp="1"/>
          </p:cNvSpPr>
          <p:nvPr>
            <p:ph idx="1"/>
          </p:nvPr>
        </p:nvSpPr>
        <p:spPr>
          <a:xfrm>
            <a:off x="838200" y="1625600"/>
            <a:ext cx="10515600" cy="2974975"/>
          </a:xfrm>
        </p:spPr>
        <p:txBody>
          <a:bodyPr>
            <a:normAutofit/>
          </a:bodyPr>
          <a:lstStyle/>
          <a:p>
            <a:pPr marL="0" indent="0" algn="just">
              <a:lnSpc>
                <a:spcPct val="100000"/>
              </a:lnSpc>
              <a:buNone/>
            </a:pPr>
            <a:r>
              <a:rPr lang="en-US" sz="2400" dirty="0">
                <a:latin typeface="Times New Roman" panose="02020603050405020304" pitchFamily="18" charset="0"/>
                <a:cs typeface="Times New Roman" panose="02020603050405020304" pitchFamily="18" charset="0"/>
              </a:rPr>
              <a:t>The IoT-based tank water level alarm system efficiently monitors water levels and prevents overflow or shortages. It provides real-time alerts through a mobile app or web dashboard, reducing manual effort. The system helps in water conservation and ensures better resource management .With automation, it can also control water pumps, making it ideal for homes, industries, and </a:t>
            </a:r>
            <a:r>
              <a:rPr lang="en-US" sz="2400" dirty="0" err="1">
                <a:latin typeface="Times New Roman" panose="02020603050405020304" pitchFamily="18" charset="0"/>
                <a:cs typeface="Times New Roman" panose="02020603050405020304" pitchFamily="18" charset="0"/>
              </a:rPr>
              <a:t>agriculture.This</a:t>
            </a:r>
            <a:r>
              <a:rPr lang="en-US" sz="2400" dirty="0">
                <a:latin typeface="Times New Roman" panose="02020603050405020304" pitchFamily="18" charset="0"/>
                <a:cs typeface="Times New Roman" panose="02020603050405020304" pitchFamily="18" charset="0"/>
              </a:rPr>
              <a:t> smart solution improves efficiency, saves water, and simplifies monitoring.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126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765</Words>
  <Application>Microsoft Office PowerPoint</Application>
  <PresentationFormat>Widescreen</PresentationFormat>
  <Paragraphs>50</Paragraphs>
  <Slides>12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9" baseType="lpstr">
      <vt:lpstr>Arial</vt:lpstr>
      <vt:lpstr>Calibri</vt:lpstr>
      <vt:lpstr>Calibri Light</vt:lpstr>
      <vt:lpstr>Symbol</vt:lpstr>
      <vt:lpstr>Times New Roman</vt:lpstr>
      <vt:lpstr>Office Theme</vt:lpstr>
      <vt:lpstr>Picture</vt:lpstr>
      <vt:lpstr>  Department of Electrical and Electronics Engineering Academic year 2024-2025(Even Semester) II year/III Semester  EEB1233 - DESIGN THINKING LABORATORY Project Review  </vt:lpstr>
      <vt:lpstr>Abstract</vt:lpstr>
      <vt:lpstr>Objective</vt:lpstr>
      <vt:lpstr>Proposed idea</vt:lpstr>
      <vt:lpstr>Block diagram </vt:lpstr>
      <vt:lpstr>Components </vt:lpstr>
      <vt:lpstr>Working</vt:lpstr>
      <vt:lpstr>Result</vt:lpstr>
      <vt:lpstr>Kit picture</vt:lpstr>
      <vt:lpstr>Demo pictures</vt:lpstr>
      <vt:lpstr>Feedback and Demo picture</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Electrical and Electronics Engineering Academic year 2024-2025(Even Semester) II year/III Semester  EEB1233 - DESIGN THINKING LABORATORY Review</dc:title>
  <dc:creator>indhusarawsai@outlook.com</dc:creator>
  <cp:lastModifiedBy>moneesh psm</cp:lastModifiedBy>
  <cp:revision>13</cp:revision>
  <dcterms:created xsi:type="dcterms:W3CDTF">2025-03-15T15:28:07Z</dcterms:created>
  <dcterms:modified xsi:type="dcterms:W3CDTF">2025-05-06T18:10:18Z</dcterms:modified>
</cp:coreProperties>
</file>